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Times New Roman Bold" panose="02020803070505020304" pitchFamily="18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sv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0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856031" y="5143500"/>
            <a:ext cx="3433286" cy="5143500"/>
          </a:xfrm>
          <a:prstGeom prst="rect">
            <a:avLst/>
          </a:prstGeom>
          <a:solidFill>
            <a:srgbClr val="0050F5"/>
          </a:solidFill>
        </p:spPr>
        <p:txBody>
          <a:bodyPr/>
          <a:lstStyle/>
          <a:p>
            <a:endParaRPr lang="uk-UA"/>
          </a:p>
        </p:txBody>
      </p:sp>
      <p:sp>
        <p:nvSpPr>
          <p:cNvPr id="3" name="Freeform 3"/>
          <p:cNvSpPr/>
          <p:nvPr/>
        </p:nvSpPr>
        <p:spPr>
          <a:xfrm rot="5400000">
            <a:off x="14857349" y="7436703"/>
            <a:ext cx="2850297" cy="2850297"/>
          </a:xfrm>
          <a:custGeom>
            <a:avLst/>
            <a:gdLst/>
            <a:ahLst/>
            <a:cxnLst/>
            <a:rect l="l" t="t" r="r" b="b"/>
            <a:pathLst>
              <a:path w="2850297" h="2850297">
                <a:moveTo>
                  <a:pt x="0" y="0"/>
                </a:moveTo>
                <a:lnTo>
                  <a:pt x="2850297" y="0"/>
                </a:lnTo>
                <a:lnTo>
                  <a:pt x="2850297" y="2850297"/>
                </a:lnTo>
                <a:lnTo>
                  <a:pt x="0" y="28502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4" name="TextBox 4"/>
          <p:cNvSpPr txBox="1"/>
          <p:nvPr/>
        </p:nvSpPr>
        <p:spPr>
          <a:xfrm>
            <a:off x="2618962" y="1490818"/>
            <a:ext cx="13050077" cy="169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Курсова робота на тему: «Система контролю часу та виконання завдань 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450423"/>
            <a:ext cx="7325618" cy="1986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Виконав: студент групи ІПЗ 23-4, Отовчиць Ілля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Керівник: Власенко О.В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ДУ «Житомирська політехніка», 2026 рік</a:t>
            </a:r>
          </a:p>
          <a:p>
            <a:pPr algn="ctr">
              <a:lnSpc>
                <a:spcPts val="3920"/>
              </a:lnSpc>
            </a:pPr>
            <a:endParaRPr lang="en-US"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0" y="6741706"/>
            <a:ext cx="3545294" cy="3545294"/>
          </a:xfrm>
          <a:custGeom>
            <a:avLst/>
            <a:gdLst/>
            <a:ahLst/>
            <a:cxnLst/>
            <a:rect l="l" t="t" r="r" b="b"/>
            <a:pathLst>
              <a:path w="3545294" h="3545294">
                <a:moveTo>
                  <a:pt x="0" y="0"/>
                </a:moveTo>
                <a:lnTo>
                  <a:pt x="3545294" y="0"/>
                </a:lnTo>
                <a:lnTo>
                  <a:pt x="3545294" y="3545294"/>
                </a:lnTo>
                <a:lnTo>
                  <a:pt x="0" y="3545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3" name="TextBox 3"/>
          <p:cNvSpPr txBox="1"/>
          <p:nvPr/>
        </p:nvSpPr>
        <p:spPr>
          <a:xfrm>
            <a:off x="4107210" y="800100"/>
            <a:ext cx="10073580" cy="15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60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Актуальність</a:t>
            </a:r>
            <a:r>
              <a:rPr lang="en-US" sz="9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60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теми</a:t>
            </a:r>
            <a:endParaRPr lang="en-US" sz="60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0" y="3502933"/>
            <a:ext cx="17771120" cy="208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Проблема: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Зростання інформаційного навантаження та необхідність ефективного тайм-менеджменту.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Рішення: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Створення локального інструменту, який об'єднує планування задач та хронометраж витраченого часу.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Переваги: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Автономність (робота без інтернету), збереження конфіденційності даних, швидкий доступ.</a:t>
            </a:r>
          </a:p>
          <a:p>
            <a:pPr algn="ctr">
              <a:lnSpc>
                <a:spcPts val="4759"/>
              </a:lnSpc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854714" y="6663906"/>
            <a:ext cx="3433286" cy="3623094"/>
          </a:xfrm>
          <a:prstGeom prst="rect">
            <a:avLst/>
          </a:prstGeom>
          <a:solidFill>
            <a:srgbClr val="FFDF2B"/>
          </a:solidFill>
        </p:spPr>
        <p:txBody>
          <a:bodyPr/>
          <a:lstStyle/>
          <a:p>
            <a:endParaRPr lang="uk-UA"/>
          </a:p>
        </p:txBody>
      </p:sp>
      <p:sp>
        <p:nvSpPr>
          <p:cNvPr id="3" name="Freeform 3"/>
          <p:cNvSpPr/>
          <p:nvPr/>
        </p:nvSpPr>
        <p:spPr>
          <a:xfrm>
            <a:off x="14854714" y="3230619"/>
            <a:ext cx="3433286" cy="3433286"/>
          </a:xfrm>
          <a:custGeom>
            <a:avLst/>
            <a:gdLst/>
            <a:ahLst/>
            <a:cxnLst/>
            <a:rect l="l" t="t" r="r" b="b"/>
            <a:pathLst>
              <a:path w="3433286" h="3433286">
                <a:moveTo>
                  <a:pt x="0" y="0"/>
                </a:moveTo>
                <a:lnTo>
                  <a:pt x="3433286" y="0"/>
                </a:lnTo>
                <a:lnTo>
                  <a:pt x="3433286" y="3433287"/>
                </a:lnTo>
                <a:lnTo>
                  <a:pt x="0" y="3433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4" name="Freeform 4"/>
          <p:cNvSpPr/>
          <p:nvPr/>
        </p:nvSpPr>
        <p:spPr>
          <a:xfrm>
            <a:off x="13957593" y="7578332"/>
            <a:ext cx="1794241" cy="1794241"/>
          </a:xfrm>
          <a:custGeom>
            <a:avLst/>
            <a:gdLst/>
            <a:ahLst/>
            <a:cxnLst/>
            <a:rect l="l" t="t" r="r" b="b"/>
            <a:pathLst>
              <a:path w="1794241" h="1794241">
                <a:moveTo>
                  <a:pt x="0" y="0"/>
                </a:moveTo>
                <a:lnTo>
                  <a:pt x="1794241" y="0"/>
                </a:lnTo>
                <a:lnTo>
                  <a:pt x="1794241" y="1794241"/>
                </a:lnTo>
                <a:lnTo>
                  <a:pt x="0" y="17942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5" name="TextBox 5"/>
          <p:cNvSpPr txBox="1"/>
          <p:nvPr/>
        </p:nvSpPr>
        <p:spPr>
          <a:xfrm>
            <a:off x="5035079" y="876300"/>
            <a:ext cx="8217843" cy="1123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Основний функціонал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462655"/>
            <a:ext cx="13252905" cy="3472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endParaRPr/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Створення, редагування та видалення завдань.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Групування за категоріями: Навчання, Робота, Особисте.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Встановлення та контроль дедлайнів автоматичне визначення прострочених задач.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Вбудований таймер для кожної задачі.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Каскадне сортування за терміновістю та статусом виконання.</a:t>
            </a:r>
          </a:p>
          <a:p>
            <a:pPr algn="ctr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8479766"/>
            <a:ext cx="1807234" cy="1807234"/>
          </a:xfrm>
          <a:custGeom>
            <a:avLst/>
            <a:gdLst/>
            <a:ahLst/>
            <a:cxnLst/>
            <a:rect l="l" t="t" r="r" b="b"/>
            <a:pathLst>
              <a:path w="1807234" h="1807234">
                <a:moveTo>
                  <a:pt x="0" y="0"/>
                </a:moveTo>
                <a:lnTo>
                  <a:pt x="1807234" y="0"/>
                </a:lnTo>
                <a:lnTo>
                  <a:pt x="1807234" y="1807234"/>
                </a:lnTo>
                <a:lnTo>
                  <a:pt x="0" y="1807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3" name="Freeform 3"/>
          <p:cNvSpPr/>
          <p:nvPr/>
        </p:nvSpPr>
        <p:spPr>
          <a:xfrm rot="-5400000">
            <a:off x="14787109" y="0"/>
            <a:ext cx="3500891" cy="3500891"/>
          </a:xfrm>
          <a:custGeom>
            <a:avLst/>
            <a:gdLst/>
            <a:ahLst/>
            <a:cxnLst/>
            <a:rect l="l" t="t" r="r" b="b"/>
            <a:pathLst>
              <a:path w="3500891" h="3500891">
                <a:moveTo>
                  <a:pt x="0" y="0"/>
                </a:moveTo>
                <a:lnTo>
                  <a:pt x="3500891" y="0"/>
                </a:lnTo>
                <a:lnTo>
                  <a:pt x="3500891" y="3500891"/>
                </a:lnTo>
                <a:lnTo>
                  <a:pt x="0" y="35008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4" name="Freeform 4"/>
          <p:cNvSpPr/>
          <p:nvPr/>
        </p:nvSpPr>
        <p:spPr>
          <a:xfrm>
            <a:off x="1028700" y="2325252"/>
            <a:ext cx="4669133" cy="4669133"/>
          </a:xfrm>
          <a:custGeom>
            <a:avLst/>
            <a:gdLst/>
            <a:ahLst/>
            <a:cxnLst/>
            <a:rect l="l" t="t" r="r" b="b"/>
            <a:pathLst>
              <a:path w="4669133" h="4669133">
                <a:moveTo>
                  <a:pt x="0" y="0"/>
                </a:moveTo>
                <a:lnTo>
                  <a:pt x="4669133" y="0"/>
                </a:lnTo>
                <a:lnTo>
                  <a:pt x="4669133" y="4669132"/>
                </a:lnTo>
                <a:lnTo>
                  <a:pt x="0" y="46691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5" name="Freeform 5"/>
          <p:cNvSpPr/>
          <p:nvPr/>
        </p:nvSpPr>
        <p:spPr>
          <a:xfrm>
            <a:off x="4070885" y="5810437"/>
            <a:ext cx="4902235" cy="3447863"/>
          </a:xfrm>
          <a:custGeom>
            <a:avLst/>
            <a:gdLst/>
            <a:ahLst/>
            <a:cxnLst/>
            <a:rect l="l" t="t" r="r" b="b"/>
            <a:pathLst>
              <a:path w="4902235" h="3447863">
                <a:moveTo>
                  <a:pt x="0" y="0"/>
                </a:moveTo>
                <a:lnTo>
                  <a:pt x="4902235" y="0"/>
                </a:lnTo>
                <a:lnTo>
                  <a:pt x="4902235" y="3447863"/>
                </a:lnTo>
                <a:lnTo>
                  <a:pt x="0" y="34478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6" name="Freeform 6"/>
          <p:cNvSpPr/>
          <p:nvPr/>
        </p:nvSpPr>
        <p:spPr>
          <a:xfrm>
            <a:off x="8878146" y="3016299"/>
            <a:ext cx="3090419" cy="3090419"/>
          </a:xfrm>
          <a:custGeom>
            <a:avLst/>
            <a:gdLst/>
            <a:ahLst/>
            <a:cxnLst/>
            <a:rect l="l" t="t" r="r" b="b"/>
            <a:pathLst>
              <a:path w="3090419" h="3090419">
                <a:moveTo>
                  <a:pt x="0" y="0"/>
                </a:moveTo>
                <a:lnTo>
                  <a:pt x="3090419" y="0"/>
                </a:lnTo>
                <a:lnTo>
                  <a:pt x="3090419" y="3090419"/>
                </a:lnTo>
                <a:lnTo>
                  <a:pt x="0" y="30904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7" name="Freeform 7"/>
          <p:cNvSpPr/>
          <p:nvPr/>
        </p:nvSpPr>
        <p:spPr>
          <a:xfrm>
            <a:off x="12836614" y="6106718"/>
            <a:ext cx="2608568" cy="2608568"/>
          </a:xfrm>
          <a:custGeom>
            <a:avLst/>
            <a:gdLst/>
            <a:ahLst/>
            <a:cxnLst/>
            <a:rect l="l" t="t" r="r" b="b"/>
            <a:pathLst>
              <a:path w="2608568" h="2608568">
                <a:moveTo>
                  <a:pt x="0" y="0"/>
                </a:moveTo>
                <a:lnTo>
                  <a:pt x="2608568" y="0"/>
                </a:lnTo>
                <a:lnTo>
                  <a:pt x="2608568" y="2608568"/>
                </a:lnTo>
                <a:lnTo>
                  <a:pt x="0" y="26085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8" name="TextBox 8"/>
          <p:cNvSpPr txBox="1"/>
          <p:nvPr/>
        </p:nvSpPr>
        <p:spPr>
          <a:xfrm>
            <a:off x="5542955" y="1183390"/>
            <a:ext cx="7202091" cy="991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Інструменти розробки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0" y="0"/>
            <a:ext cx="1807234" cy="1807234"/>
          </a:xfrm>
          <a:custGeom>
            <a:avLst/>
            <a:gdLst/>
            <a:ahLst/>
            <a:cxnLst/>
            <a:rect l="l" t="t" r="r" b="b"/>
            <a:pathLst>
              <a:path w="1807234" h="1807234">
                <a:moveTo>
                  <a:pt x="0" y="0"/>
                </a:moveTo>
                <a:lnTo>
                  <a:pt x="1807234" y="0"/>
                </a:lnTo>
                <a:lnTo>
                  <a:pt x="1807234" y="1807234"/>
                </a:lnTo>
                <a:lnTo>
                  <a:pt x="0" y="1807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3" name="Freeform 3"/>
          <p:cNvSpPr/>
          <p:nvPr/>
        </p:nvSpPr>
        <p:spPr>
          <a:xfrm>
            <a:off x="3725611" y="3619500"/>
            <a:ext cx="10836777" cy="4770805"/>
          </a:xfrm>
          <a:custGeom>
            <a:avLst/>
            <a:gdLst/>
            <a:ahLst/>
            <a:cxnLst/>
            <a:rect l="l" t="t" r="r" b="b"/>
            <a:pathLst>
              <a:path w="10836777" h="4770805">
                <a:moveTo>
                  <a:pt x="0" y="0"/>
                </a:moveTo>
                <a:lnTo>
                  <a:pt x="10836778" y="0"/>
                </a:lnTo>
                <a:lnTo>
                  <a:pt x="10836778" y="4770805"/>
                </a:lnTo>
                <a:lnTo>
                  <a:pt x="0" y="4770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4" name="TextBox 4"/>
          <p:cNvSpPr txBox="1"/>
          <p:nvPr/>
        </p:nvSpPr>
        <p:spPr>
          <a:xfrm>
            <a:off x="5815236" y="1315426"/>
            <a:ext cx="6657529" cy="91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Архітектура додатку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143500"/>
            <a:ext cx="2915701" cy="5143500"/>
          </a:xfrm>
          <a:prstGeom prst="rect">
            <a:avLst/>
          </a:prstGeom>
          <a:solidFill>
            <a:srgbClr val="FFDF2B"/>
          </a:solidFill>
        </p:spPr>
        <p:txBody>
          <a:bodyPr/>
          <a:lstStyle/>
          <a:p>
            <a:endParaRPr lang="uk-UA"/>
          </a:p>
        </p:txBody>
      </p:sp>
      <p:sp>
        <p:nvSpPr>
          <p:cNvPr id="3" name="AutoShape 3"/>
          <p:cNvSpPr/>
          <p:nvPr/>
        </p:nvSpPr>
        <p:spPr>
          <a:xfrm>
            <a:off x="1563436" y="5143500"/>
            <a:ext cx="1352265" cy="1227325"/>
          </a:xfrm>
          <a:prstGeom prst="rect">
            <a:avLst/>
          </a:prstGeom>
          <a:solidFill>
            <a:srgbClr val="FE4C00"/>
          </a:solidFill>
        </p:spPr>
        <p:txBody>
          <a:bodyPr/>
          <a:lstStyle/>
          <a:p>
            <a:endParaRPr lang="uk-UA"/>
          </a:p>
        </p:txBody>
      </p:sp>
      <p:sp>
        <p:nvSpPr>
          <p:cNvPr id="4" name="Freeform 4"/>
          <p:cNvSpPr/>
          <p:nvPr/>
        </p:nvSpPr>
        <p:spPr>
          <a:xfrm>
            <a:off x="4102832" y="2855124"/>
            <a:ext cx="7964666" cy="3681018"/>
          </a:xfrm>
          <a:custGeom>
            <a:avLst/>
            <a:gdLst/>
            <a:ahLst/>
            <a:cxnLst/>
            <a:rect l="l" t="t" r="r" b="b"/>
            <a:pathLst>
              <a:path w="7964666" h="3681018">
                <a:moveTo>
                  <a:pt x="0" y="0"/>
                </a:moveTo>
                <a:lnTo>
                  <a:pt x="7964666" y="0"/>
                </a:lnTo>
                <a:lnTo>
                  <a:pt x="7964666" y="3681018"/>
                </a:lnTo>
                <a:lnTo>
                  <a:pt x="0" y="3681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8" b="-6668"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5" name="TextBox 5"/>
          <p:cNvSpPr txBox="1"/>
          <p:nvPr/>
        </p:nvSpPr>
        <p:spPr>
          <a:xfrm>
            <a:off x="5456337" y="962025"/>
            <a:ext cx="7375327" cy="91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Логіка роботи таймера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33991" y="7017490"/>
            <a:ext cx="7449889" cy="168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625"/>
              </a:lnSpc>
              <a:buFont typeface="Arial"/>
              <a:buChar char="•"/>
            </a:pPr>
            <a:r>
              <a:rPr lang="en-US" sz="2100">
                <a:solidFill>
                  <a:srgbClr val="040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Використання DispatcherTimer замість стандартного таймера.</a:t>
            </a:r>
          </a:p>
          <a:p>
            <a:pPr algn="l">
              <a:lnSpc>
                <a:spcPts val="2625"/>
              </a:lnSpc>
            </a:pPr>
            <a:endParaRPr lang="en-US" sz="2100">
              <a:solidFill>
                <a:srgbClr val="04040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3390" lvl="1" indent="-226695" algn="l">
              <a:lnSpc>
                <a:spcPts val="2625"/>
              </a:lnSpc>
              <a:buFont typeface="Arial"/>
              <a:buChar char="•"/>
            </a:pPr>
            <a:r>
              <a:rPr lang="en-US" sz="2100">
                <a:solidFill>
                  <a:srgbClr val="040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Безпечна взаємодія з UI-потоком.</a:t>
            </a:r>
          </a:p>
          <a:p>
            <a:pPr algn="l">
              <a:lnSpc>
                <a:spcPts val="2625"/>
              </a:lnSpc>
            </a:pPr>
            <a:endParaRPr lang="en-US" sz="2100">
              <a:solidFill>
                <a:srgbClr val="04040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3390" lvl="1" indent="-226695" algn="l">
              <a:lnSpc>
                <a:spcPts val="2625"/>
              </a:lnSpc>
              <a:buFont typeface="Arial"/>
              <a:buChar char="•"/>
            </a:pPr>
            <a:r>
              <a:rPr lang="en-US" sz="2100">
                <a:solidFill>
                  <a:srgbClr val="0404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Синхронне оновлення часу задачі та загальної статистики.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4589425" y="6588425"/>
            <a:ext cx="3698575" cy="3698575"/>
          </a:xfrm>
          <a:custGeom>
            <a:avLst/>
            <a:gdLst/>
            <a:ahLst/>
            <a:cxnLst/>
            <a:rect l="l" t="t" r="r" b="b"/>
            <a:pathLst>
              <a:path w="3698575" h="3698575">
                <a:moveTo>
                  <a:pt x="0" y="0"/>
                </a:moveTo>
                <a:lnTo>
                  <a:pt x="3698575" y="0"/>
                </a:lnTo>
                <a:lnTo>
                  <a:pt x="3698575" y="3698575"/>
                </a:lnTo>
                <a:lnTo>
                  <a:pt x="0" y="36985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3" name="Freeform 3"/>
          <p:cNvSpPr/>
          <p:nvPr/>
        </p:nvSpPr>
        <p:spPr>
          <a:xfrm rot="5400000">
            <a:off x="14804649" y="6803649"/>
            <a:ext cx="2454651" cy="2454651"/>
          </a:xfrm>
          <a:custGeom>
            <a:avLst/>
            <a:gdLst/>
            <a:ahLst/>
            <a:cxnLst/>
            <a:rect l="l" t="t" r="r" b="b"/>
            <a:pathLst>
              <a:path w="2454651" h="2454651">
                <a:moveTo>
                  <a:pt x="0" y="0"/>
                </a:moveTo>
                <a:lnTo>
                  <a:pt x="2454651" y="0"/>
                </a:lnTo>
                <a:lnTo>
                  <a:pt x="2454651" y="2454651"/>
                </a:lnTo>
                <a:lnTo>
                  <a:pt x="0" y="24546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4" name="TextBox 4"/>
          <p:cNvSpPr txBox="1"/>
          <p:nvPr/>
        </p:nvSpPr>
        <p:spPr>
          <a:xfrm>
            <a:off x="4614118" y="1193068"/>
            <a:ext cx="9059763" cy="91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Локальне збереження даних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42515" y="3948575"/>
            <a:ext cx="14489460" cy="2360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124"/>
              </a:lnSpc>
              <a:buFont typeface="Arial"/>
              <a:buChar char="•"/>
            </a:pPr>
            <a:r>
              <a:rPr lang="en-US" sz="24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Відмова</a:t>
            </a:r>
            <a:r>
              <a:rPr lang="en-US" sz="24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від</a:t>
            </a:r>
            <a:r>
              <a:rPr lang="en-US" sz="24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користь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легкоформатного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JSON.</a:t>
            </a:r>
          </a:p>
          <a:p>
            <a:pPr marL="539749" lvl="1" indent="-269875" algn="l">
              <a:lnSpc>
                <a:spcPts val="3124"/>
              </a:lnSpc>
              <a:buFont typeface="Arial"/>
              <a:buChar char="•"/>
            </a:pPr>
            <a:r>
              <a:rPr lang="en-US" sz="24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Сервіс</a:t>
            </a:r>
            <a:r>
              <a:rPr lang="en-US" sz="24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JsonDataService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539749" lvl="1" indent="-269875" algn="l">
              <a:lnSpc>
                <a:spcPts val="3124"/>
              </a:lnSpc>
              <a:buFont typeface="Arial"/>
              <a:buChar char="•"/>
            </a:pPr>
            <a:r>
              <a:rPr lang="en-US" sz="24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Серіалізація</a:t>
            </a:r>
            <a:r>
              <a:rPr lang="en-US" sz="24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автоматичне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перетворення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списку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у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файл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tasks.json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поруч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із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.exe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файлом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програми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539749" lvl="1" indent="-269875" algn="l">
              <a:lnSpc>
                <a:spcPts val="3124"/>
              </a:lnSpc>
              <a:buFont typeface="Arial"/>
              <a:buChar char="•"/>
            </a:pPr>
            <a:r>
              <a:rPr lang="en-US" sz="24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Десеріалізація</a:t>
            </a:r>
            <a:r>
              <a:rPr lang="en-US" sz="24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завантаження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прогресу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запуску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із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захистом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від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пошкоджених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або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відсутніх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файлів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10800000">
            <a:off x="0" y="0"/>
            <a:ext cx="3433286" cy="10287000"/>
          </a:xfrm>
          <a:prstGeom prst="rect">
            <a:avLst/>
          </a:prstGeom>
          <a:solidFill>
            <a:srgbClr val="0050F5"/>
          </a:solidFill>
        </p:spPr>
        <p:txBody>
          <a:bodyPr/>
          <a:lstStyle/>
          <a:p>
            <a:endParaRPr lang="uk-UA"/>
          </a:p>
        </p:txBody>
      </p:sp>
      <p:sp>
        <p:nvSpPr>
          <p:cNvPr id="3" name="Freeform 3"/>
          <p:cNvSpPr/>
          <p:nvPr/>
        </p:nvSpPr>
        <p:spPr>
          <a:xfrm rot="5400000">
            <a:off x="0" y="5267798"/>
            <a:ext cx="5019202" cy="5019202"/>
          </a:xfrm>
          <a:custGeom>
            <a:avLst/>
            <a:gdLst/>
            <a:ahLst/>
            <a:cxnLst/>
            <a:rect l="l" t="t" r="r" b="b"/>
            <a:pathLst>
              <a:path w="5019202" h="5019202">
                <a:moveTo>
                  <a:pt x="0" y="0"/>
                </a:moveTo>
                <a:lnTo>
                  <a:pt x="5019202" y="0"/>
                </a:lnTo>
                <a:lnTo>
                  <a:pt x="5019202" y="5019202"/>
                </a:lnTo>
                <a:lnTo>
                  <a:pt x="0" y="5019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4" name="Freeform 4"/>
          <p:cNvSpPr/>
          <p:nvPr/>
        </p:nvSpPr>
        <p:spPr>
          <a:xfrm>
            <a:off x="1846053" y="1913657"/>
            <a:ext cx="3174467" cy="3174467"/>
          </a:xfrm>
          <a:custGeom>
            <a:avLst/>
            <a:gdLst/>
            <a:ahLst/>
            <a:cxnLst/>
            <a:rect l="l" t="t" r="r" b="b"/>
            <a:pathLst>
              <a:path w="3174467" h="3174467">
                <a:moveTo>
                  <a:pt x="0" y="0"/>
                </a:moveTo>
                <a:lnTo>
                  <a:pt x="3174467" y="0"/>
                </a:lnTo>
                <a:lnTo>
                  <a:pt x="3174467" y="3174467"/>
                </a:lnTo>
                <a:lnTo>
                  <a:pt x="0" y="31744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5" name="Freeform 5"/>
          <p:cNvSpPr/>
          <p:nvPr/>
        </p:nvSpPr>
        <p:spPr>
          <a:xfrm rot="-5400000">
            <a:off x="0" y="0"/>
            <a:ext cx="3433286" cy="3433286"/>
          </a:xfrm>
          <a:custGeom>
            <a:avLst/>
            <a:gdLst/>
            <a:ahLst/>
            <a:cxnLst/>
            <a:rect l="l" t="t" r="r" b="b"/>
            <a:pathLst>
              <a:path w="3433286" h="3433286">
                <a:moveTo>
                  <a:pt x="0" y="0"/>
                </a:moveTo>
                <a:lnTo>
                  <a:pt x="3433286" y="0"/>
                </a:lnTo>
                <a:lnTo>
                  <a:pt x="3433286" y="3433286"/>
                </a:lnTo>
                <a:lnTo>
                  <a:pt x="0" y="34332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6" name="TextBox 6"/>
          <p:cNvSpPr txBox="1"/>
          <p:nvPr/>
        </p:nvSpPr>
        <p:spPr>
          <a:xfrm>
            <a:off x="8763000" y="1492836"/>
            <a:ext cx="3433287" cy="8416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6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Виснов</a:t>
            </a:r>
            <a:r>
              <a:rPr lang="uk-UA" sz="5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к</a:t>
            </a:r>
            <a:r>
              <a:rPr lang="en-US" sz="5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83047" y="3472316"/>
            <a:ext cx="11076253" cy="391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124"/>
              </a:lnSpc>
              <a:buFont typeface="Arial"/>
              <a:buChar char="•"/>
            </a:pPr>
            <a:r>
              <a:rPr lang="en-US" sz="24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Мету</a:t>
            </a:r>
            <a:r>
              <a:rPr lang="en-US" sz="24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досягнуто</a:t>
            </a:r>
            <a:r>
              <a:rPr lang="en-US" sz="24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Розроблено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повноцінний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WPF-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додаток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тайм-менеджменту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539749" lvl="1" indent="-269875" algn="l">
              <a:lnSpc>
                <a:spcPts val="3124"/>
              </a:lnSpc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Архітектура: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Проєкт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успішно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побудовано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патерном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MVVM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із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використанням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Binding.</a:t>
            </a:r>
          </a:p>
          <a:p>
            <a:pPr marL="539749" lvl="1" indent="-269875" algn="l">
              <a:lnSpc>
                <a:spcPts val="3124"/>
              </a:lnSpc>
              <a:buFont typeface="Arial"/>
              <a:buChar char="•"/>
            </a:pPr>
            <a:r>
              <a:rPr lang="en-US" sz="24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Оптимізація</a:t>
            </a:r>
            <a:r>
              <a:rPr lang="en-US" sz="24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Замість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важких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СУБД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реалізовано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швидке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локальне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збереження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у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форматі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JSON.</a:t>
            </a:r>
          </a:p>
          <a:p>
            <a:pPr marL="539749" lvl="1" indent="-269875" algn="l">
              <a:lnSpc>
                <a:spcPts val="3124"/>
              </a:lnSpc>
              <a:buFont typeface="Arial"/>
              <a:buChar char="•"/>
            </a:pPr>
            <a:r>
              <a:rPr lang="en-US" sz="24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Безпека</a:t>
            </a:r>
            <a:r>
              <a:rPr lang="en-US" sz="24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UI: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Налаштовано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стабільну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роботу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таймера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через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DispatcherTimer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без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конфлікту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потоків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539749" lvl="1" indent="-269875" algn="l">
              <a:lnSpc>
                <a:spcPts val="3124"/>
              </a:lnSpc>
              <a:buFont typeface="Arial"/>
              <a:buChar char="•"/>
            </a:pPr>
            <a:r>
              <a:rPr lang="en-US" sz="24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Практична</a:t>
            </a:r>
            <a:r>
              <a:rPr lang="en-US" sz="24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цінність</a:t>
            </a:r>
            <a:r>
              <a:rPr lang="en-US" sz="2499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Створено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готовий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автономний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інструмент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ефективного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планування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завдань</a:t>
            </a:r>
            <a:r>
              <a:rPr lang="en-US" sz="24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256</Words>
  <Application>Microsoft Office PowerPoint</Application>
  <PresentationFormat>Custom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 Bold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Белая Простая и Разноцветная Забавная Геометрическая Совещание в Компании Презентация</dc:title>
  <cp:lastModifiedBy>illau doruman</cp:lastModifiedBy>
  <cp:revision>2</cp:revision>
  <dcterms:created xsi:type="dcterms:W3CDTF">2006-08-16T00:00:00Z</dcterms:created>
  <dcterms:modified xsi:type="dcterms:W3CDTF">2026-03-09T06:50:12Z</dcterms:modified>
  <dc:identifier>DAHDbSoSMWA</dc:identifier>
</cp:coreProperties>
</file>